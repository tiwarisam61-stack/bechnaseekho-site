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E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2283A"/>
                </a:solidFill>
              </a:defRPr>
            </a:pPr>
            <a:r>
              <a:t>CareerSync Website Walkthrough</a:t>
            </a:r>
          </a:p>
          <a:p>
            <a:pPr>
              <a:defRPr sz="1300">
                <a:solidFill>
                  <a:srgbClr val="5E6A84"/>
                </a:solidFill>
              </a:defRPr>
            </a:pPr>
            <a:r>
              <a:t>Stakeholder Deck | 2026-07-05</a:t>
            </a:r>
          </a:p>
        </p:txBody>
      </p:sp>
      <p:pic>
        <p:nvPicPr>
          <p:cNvPr id="3" name="Picture 2" descr="nav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37160"/>
            <a:ext cx="1005840" cy="99593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28016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82D3E"/>
                </a:solidFill>
              </a:defRPr>
            </a:pPr>
            <a:r>
              <a:t>UI + Button map + Flow map + Technical architecture</a:t>
            </a:r>
          </a:p>
          <a:p>
            <a:pPr>
              <a:defRPr sz="1700">
                <a:solidFill>
                  <a:srgbClr val="282D3E"/>
                </a:solidFill>
              </a:defRPr>
            </a:pPr>
            <a:r>
              <a:t>Prepared from current live codebase and runtime structure</a:t>
            </a:r>
          </a:p>
        </p:txBody>
      </p:sp>
      <p:pic>
        <p:nvPicPr>
          <p:cNvPr id="5" name="Picture 4" descr="index-home-s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097280"/>
            <a:ext cx="6217920" cy="77292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2283A"/>
                </a:solidFill>
              </a:defRPr>
            </a:pPr>
            <a:r>
              <a:t>Executive Summary</a:t>
            </a:r>
          </a:p>
          <a:p>
            <a:pPr>
              <a:defRPr sz="1300">
                <a:solidFill>
                  <a:srgbClr val="5E6A84"/>
                </a:solidFill>
              </a:defRPr>
            </a:pPr>
            <a:r>
              <a:t>What this website currently provides</a:t>
            </a:r>
          </a:p>
        </p:txBody>
      </p:sp>
      <p:pic>
        <p:nvPicPr>
          <p:cNvPr id="3" name="Picture 2" descr="nav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37160"/>
            <a:ext cx="1005840" cy="99593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280160"/>
            <a:ext cx="5486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82D3E"/>
                </a:solidFill>
              </a:defRPr>
            </a:pPr>
            <a:r>
              <a:t>CareerSync is a full web platform for jobs, applications, and admin management.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Frontend pages are separated by role: user journey and admin journey.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Backend serves APIs, static assets, file uploads, exports, and health endpoints.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UI has structured sections, dropdown tools/resources, and form validation.</a:t>
            </a:r>
          </a:p>
        </p:txBody>
      </p:sp>
      <p:pic>
        <p:nvPicPr>
          <p:cNvPr id="5" name="Picture 4" descr="index-nav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188720"/>
            <a:ext cx="530352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2283A"/>
                </a:solidFill>
              </a:defRPr>
            </a:pPr>
            <a:r>
              <a:t>Technology Stack</a:t>
            </a:r>
          </a:p>
          <a:p>
            <a:pPr>
              <a:defRPr sz="1300">
                <a:solidFill>
                  <a:srgbClr val="5E6A84"/>
                </a:solidFill>
              </a:defRPr>
            </a:pPr>
            <a:r>
              <a:t>Languages, framework, and runtime</a:t>
            </a:r>
          </a:p>
        </p:txBody>
      </p:sp>
      <p:pic>
        <p:nvPicPr>
          <p:cNvPr id="3" name="Picture 2" descr="nav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37160"/>
            <a:ext cx="1005840" cy="99593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280160"/>
            <a:ext cx="5486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82D3E"/>
                </a:solidFill>
              </a:defRPr>
            </a:pPr>
            <a:r>
              <a:t>Frontend language: HTML + CSS + JavaScript.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Backend language: JavaScript (Node.js + Express).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Data layer: JSON files for jobs and applications.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Upload handling: Multer with size/type checks.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Security/middleware: Helmet, rate-limit, compression.</a:t>
            </a:r>
          </a:p>
        </p:txBody>
      </p:sp>
      <p:pic>
        <p:nvPicPr>
          <p:cNvPr id="5" name="Picture 4" descr="index-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4864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2283A"/>
                </a:solidFill>
              </a:defRPr>
            </a:pPr>
            <a:r>
              <a:t>Website Structure</a:t>
            </a:r>
          </a:p>
          <a:p>
            <a:pPr>
              <a:defRPr sz="1300">
                <a:solidFill>
                  <a:srgbClr val="5E6A84"/>
                </a:solidFill>
              </a:defRPr>
            </a:pPr>
            <a:r>
              <a:t>Main folders and file responsibilities</a:t>
            </a:r>
          </a:p>
        </p:txBody>
      </p:sp>
      <p:pic>
        <p:nvPicPr>
          <p:cNvPr id="3" name="Picture 2" descr="nav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37160"/>
            <a:ext cx="1005840" cy="99593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280160"/>
            <a:ext cx="5486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82D3E"/>
                </a:solidFill>
              </a:defRPr>
            </a:pPr>
            <a:r>
              <a:t>index.html -&gt; main UI and client interaction logic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job-details.html -&gt; details page + apply form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my-applications.html -&gt; user application history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admin-dashboard.html -&gt; admin control center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admin-applications.html -&gt; application operations + export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server.js -&gt; all routes and backend workflow</a:t>
            </a:r>
          </a:p>
        </p:txBody>
      </p:sp>
      <p:pic>
        <p:nvPicPr>
          <p:cNvPr id="5" name="Picture 4" descr="index-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188720"/>
            <a:ext cx="530352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2283A"/>
                </a:solidFill>
              </a:defRPr>
            </a:pPr>
            <a:r>
              <a:t>Main Navigation Map</a:t>
            </a:r>
          </a:p>
          <a:p>
            <a:pPr>
              <a:defRPr sz="1300">
                <a:solidFill>
                  <a:srgbClr val="5E6A84"/>
                </a:solidFill>
              </a:defRPr>
            </a:pPr>
            <a:r>
              <a:t>Top menu, profile, and mobile flows</a:t>
            </a:r>
          </a:p>
        </p:txBody>
      </p:sp>
      <p:pic>
        <p:nvPicPr>
          <p:cNvPr id="3" name="Picture 2" descr="nav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37160"/>
            <a:ext cx="1005840" cy="99593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280160"/>
            <a:ext cx="5486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82D3E"/>
                </a:solidFill>
              </a:defRPr>
            </a:pPr>
            <a:r>
              <a:t>Top labels: Home, Jobs, Career Tools, Resources, Employers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Career Tools and Resources use dropdown-based navigation.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Profile menu opens My Profile, Dashboard, My Applications, Settings, Admin Panel.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Mobile drawer mirrors desktop navigation and action options.</a:t>
            </a:r>
          </a:p>
        </p:txBody>
      </p:sp>
      <p:pic>
        <p:nvPicPr>
          <p:cNvPr id="5" name="Picture 4" descr="index-nav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188720"/>
            <a:ext cx="530352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2283A"/>
                </a:solidFill>
              </a:defRPr>
            </a:pPr>
            <a:r>
              <a:t>Action Router and Click Behavior</a:t>
            </a:r>
          </a:p>
          <a:p>
            <a:pPr>
              <a:defRPr sz="1300">
                <a:solidFill>
                  <a:srgbClr val="5E6A84"/>
                </a:solidFill>
              </a:defRPr>
            </a:pPr>
            <a:r>
              <a:t>Central mapping handled in index.html</a:t>
            </a:r>
          </a:p>
        </p:txBody>
      </p:sp>
      <p:pic>
        <p:nvPicPr>
          <p:cNvPr id="3" name="Picture 2" descr="nav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37160"/>
            <a:ext cx="1005840" cy="99593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280160"/>
            <a:ext cx="5486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82D3E"/>
                </a:solidFill>
              </a:defRPr>
            </a:pPr>
            <a:r>
              <a:t>Main click router: handleAction(label).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Mapped labels include login, signup, notifications, contact, and utility actions.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Resume/resource buttons currently handled as Coming Soon where configured.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Detected mapped action labels (sample):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- AI Job Match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- Bulk Hiring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- Career Growth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- Contact Team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- Get Started Free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- Interview Calls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- Load More Companies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- Login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- Notifications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- Post a Job</a:t>
            </a:r>
          </a:p>
        </p:txBody>
      </p:sp>
      <p:pic>
        <p:nvPicPr>
          <p:cNvPr id="5" name="Picture 4" descr="index-services-ben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188720"/>
            <a:ext cx="530352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2283A"/>
                </a:solidFill>
              </a:defRPr>
            </a:pPr>
            <a:r>
              <a:t>Coming Soon Control</a:t>
            </a:r>
          </a:p>
          <a:p>
            <a:pPr>
              <a:defRPr sz="1300">
                <a:solidFill>
                  <a:srgbClr val="5E6A84"/>
                </a:solidFill>
              </a:defRPr>
            </a:pPr>
            <a:r>
              <a:t>Protected options and UX behavior</a:t>
            </a:r>
          </a:p>
        </p:txBody>
      </p:sp>
      <p:pic>
        <p:nvPicPr>
          <p:cNvPr id="3" name="Picture 2" descr="nav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37160"/>
            <a:ext cx="1005840" cy="99593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280160"/>
            <a:ext cx="5486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82D3E"/>
                </a:solidFill>
              </a:defRPr>
            </a:pPr>
            <a:r>
              <a:t>Configured Coming Soon labels: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- Mock Interview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- AI Career Coach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- AI Job Matcher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- Smart AI Arena Job Matcher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- Salary Guide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- Career Blog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- Career Tips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- Salary Calculator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- Interview Questions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- Resume Builder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- Resume Templates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- Build My Resume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- Browse Templates</a:t>
            </a:r>
          </a:p>
        </p:txBody>
      </p:sp>
      <p:pic>
        <p:nvPicPr>
          <p:cNvPr id="5" name="Picture 4" descr="index-resources-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188720"/>
            <a:ext cx="530352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2283A"/>
                </a:solidFill>
              </a:defRPr>
            </a:pPr>
            <a:r>
              <a:t>Career Tools Experience</a:t>
            </a:r>
          </a:p>
          <a:p>
            <a:pPr>
              <a:defRPr sz="1300">
                <a:solidFill>
                  <a:srgbClr val="5E6A84"/>
                </a:solidFill>
              </a:defRPr>
            </a:pPr>
            <a:r>
              <a:t>Visual section for AI tools and cards</a:t>
            </a:r>
          </a:p>
        </p:txBody>
      </p:sp>
      <p:pic>
        <p:nvPicPr>
          <p:cNvPr id="3" name="Picture 2" descr="nav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37160"/>
            <a:ext cx="1005840" cy="99593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280160"/>
            <a:ext cx="5486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82D3E"/>
                </a:solidFill>
              </a:defRPr>
            </a:pPr>
            <a:r>
              <a:t>Bento layout highlights tools and primary actions.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Some options are active, many are safely marked Coming Soon.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Badges and disabled interactions avoid broken user journeys.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Footer CTA in tools panel is intentionally blocked for upcoming releases.</a:t>
            </a:r>
          </a:p>
        </p:txBody>
      </p:sp>
      <p:pic>
        <p:nvPicPr>
          <p:cNvPr id="5" name="Picture 4" descr="index-services-ben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188720"/>
            <a:ext cx="530352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2283A"/>
                </a:solidFill>
              </a:defRPr>
            </a:pPr>
            <a:r>
              <a:t>Resources Experience</a:t>
            </a:r>
          </a:p>
          <a:p>
            <a:pPr>
              <a:defRPr sz="1300">
                <a:solidFill>
                  <a:srgbClr val="5E6A84"/>
                </a:solidFill>
              </a:defRPr>
            </a:pPr>
            <a:r>
              <a:t>Templates, interview prep, blog, salary guide, and tips</a:t>
            </a:r>
          </a:p>
        </p:txBody>
      </p:sp>
      <p:pic>
        <p:nvPicPr>
          <p:cNvPr id="3" name="Picture 2" descr="nav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37160"/>
            <a:ext cx="1005840" cy="99593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280160"/>
            <a:ext cx="5486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82D3E"/>
                </a:solidFill>
              </a:defRPr>
            </a:pPr>
            <a:r>
              <a:t>Resource cards include image, tag, title, description, and CTA text.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Current resource options are visually complete and structured.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Resume Templates card is visible as requested.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2283A"/>
                </a:solidFill>
              </a:defRPr>
            </a:pPr>
            <a:r>
              <a:t>Job Details Page</a:t>
            </a:r>
          </a:p>
          <a:p>
            <a:pPr>
              <a:defRPr sz="1300">
                <a:solidFill>
                  <a:srgbClr val="5E6A84"/>
                </a:solidFill>
              </a:defRPr>
            </a:pPr>
            <a:r>
              <a:t>From job listing to complete application submission</a:t>
            </a:r>
          </a:p>
        </p:txBody>
      </p:sp>
      <p:pic>
        <p:nvPicPr>
          <p:cNvPr id="3" name="Picture 2" descr="nav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37160"/>
            <a:ext cx="1005840" cy="99593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280160"/>
            <a:ext cx="5486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82D3E"/>
                </a:solidFill>
              </a:defRPr>
            </a:pPr>
            <a:r>
              <a:t>Displays salary, location, role data, and recruiter/company context.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Apply form validates required fields, email/phone, resume file size/type.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Uses duplicate-check endpoint before final submit.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Sticky Apply + WhatsApp support buttons improve conversion.</a:t>
            </a:r>
          </a:p>
        </p:txBody>
      </p:sp>
      <p:pic>
        <p:nvPicPr>
          <p:cNvPr id="5" name="Picture 4" descr="job-details-p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188720"/>
            <a:ext cx="530352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2283A"/>
                </a:solidFill>
              </a:defRPr>
            </a:pPr>
            <a:r>
              <a:t>Button Gallery</a:t>
            </a:r>
          </a:p>
          <a:p>
            <a:pPr>
              <a:defRPr sz="1300">
                <a:solidFill>
                  <a:srgbClr val="5E6A84"/>
                </a:solidFill>
              </a:defRPr>
            </a:pPr>
            <a:r>
              <a:t>Actual captured buttons used in user/admin workflows</a:t>
            </a:r>
          </a:p>
        </p:txBody>
      </p:sp>
      <p:pic>
        <p:nvPicPr>
          <p:cNvPr id="3" name="Picture 2" descr="nav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37160"/>
            <a:ext cx="1005840" cy="995930"/>
          </a:xfrm>
          <a:prstGeom prst="rect">
            <a:avLst/>
          </a:prstGeom>
        </p:spPr>
      </p:pic>
      <p:pic>
        <p:nvPicPr>
          <p:cNvPr id="4" name="Picture 3" descr="job-details-apply-butt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2743200" cy="914400"/>
          </a:xfrm>
          <a:prstGeom prst="rect">
            <a:avLst/>
          </a:prstGeom>
        </p:spPr>
      </p:pic>
      <p:pic>
        <p:nvPicPr>
          <p:cNvPr id="5" name="Picture 4" descr="job-details-submit-butt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1371600"/>
            <a:ext cx="2926080" cy="914400"/>
          </a:xfrm>
          <a:prstGeom prst="rect">
            <a:avLst/>
          </a:prstGeom>
        </p:spPr>
      </p:pic>
      <p:pic>
        <p:nvPicPr>
          <p:cNvPr id="6" name="Picture 5" descr="admin-export-csv-butt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1371600"/>
            <a:ext cx="2377440" cy="914400"/>
          </a:xfrm>
          <a:prstGeom prst="rect">
            <a:avLst/>
          </a:prstGeom>
        </p:spPr>
      </p:pic>
      <p:pic>
        <p:nvPicPr>
          <p:cNvPr id="7" name="Picture 6" descr="admin-export-json-butt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0" y="1371600"/>
            <a:ext cx="2377440" cy="914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2743200"/>
            <a:ext cx="10972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82D3E"/>
                </a:solidFill>
              </a:defRPr>
            </a:pPr>
            <a:r>
              <a:t>Apply Now: opens/sticks job application flow.</a:t>
            </a:r>
          </a:p>
          <a:p>
            <a:pPr>
              <a:defRPr sz="1600">
                <a:solidFill>
                  <a:srgbClr val="282D3E"/>
                </a:solidFill>
              </a:defRPr>
            </a:pPr>
            <a:r>
              <a:t>Submit Application: posts validated form data to backend.</a:t>
            </a:r>
          </a:p>
          <a:p>
            <a:pPr>
              <a:defRPr sz="1600">
                <a:solidFill>
                  <a:srgbClr val="282D3E"/>
                </a:solidFill>
              </a:defRPr>
            </a:pPr>
            <a:r>
              <a:t>Export CSV / JSON: admin download actions for reporting.</a:t>
            </a:r>
          </a:p>
          <a:p>
            <a:pPr>
              <a:defRPr sz="1600">
                <a:solidFill>
                  <a:srgbClr val="282D3E"/>
                </a:solidFill>
              </a:defRPr>
            </a:pPr>
            <a:r>
              <a:t>All critical buttons are wired to explicit handlers or API calls.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2283A"/>
                </a:solidFill>
              </a:defRPr>
            </a:pPr>
            <a:r>
              <a:t>My Applications</a:t>
            </a:r>
          </a:p>
          <a:p>
            <a:pPr>
              <a:defRPr sz="1300">
                <a:solidFill>
                  <a:srgbClr val="5E6A84"/>
                </a:solidFill>
              </a:defRPr>
            </a:pPr>
            <a:r>
              <a:t>Candidate tracking view</a:t>
            </a:r>
          </a:p>
        </p:txBody>
      </p:sp>
      <p:pic>
        <p:nvPicPr>
          <p:cNvPr id="3" name="Picture 2" descr="nav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37160"/>
            <a:ext cx="1005840" cy="99593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280160"/>
            <a:ext cx="5486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82D3E"/>
                </a:solidFill>
              </a:defRPr>
            </a:pPr>
            <a:r>
              <a:t>Fetches records for user email via API.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Shows application history and statuses.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Simple and focused user follow-up page.</a:t>
            </a:r>
          </a:p>
        </p:txBody>
      </p:sp>
      <p:pic>
        <p:nvPicPr>
          <p:cNvPr id="5" name="Picture 4" descr="my-applications-p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188720"/>
            <a:ext cx="530352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2283A"/>
                </a:solidFill>
              </a:defRPr>
            </a:pPr>
            <a:r>
              <a:t>Admin Entry and Control Center</a:t>
            </a:r>
          </a:p>
          <a:p>
            <a:pPr>
              <a:defRPr sz="1300">
                <a:solidFill>
                  <a:srgbClr val="5E6A84"/>
                </a:solidFill>
              </a:defRPr>
            </a:pPr>
            <a:r>
              <a:t>Login experience and main dashboard</a:t>
            </a:r>
          </a:p>
        </p:txBody>
      </p:sp>
      <p:pic>
        <p:nvPicPr>
          <p:cNvPr id="3" name="Picture 2" descr="nav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37160"/>
            <a:ext cx="1005840" cy="995930"/>
          </a:xfrm>
          <a:prstGeom prst="rect">
            <a:avLst/>
          </a:prstGeom>
        </p:spPr>
      </p:pic>
      <p:pic>
        <p:nvPicPr>
          <p:cNvPr id="4" name="Picture 3" descr="admin-dashboard-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80160"/>
            <a:ext cx="5486400" cy="4937760"/>
          </a:xfrm>
          <a:prstGeom prst="rect">
            <a:avLst/>
          </a:prstGeom>
        </p:spPr>
      </p:pic>
      <p:pic>
        <p:nvPicPr>
          <p:cNvPr id="5" name="Picture 4" descr="admin-dashboard-m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280160"/>
            <a:ext cx="54864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2283A"/>
                </a:solidFill>
              </a:defRPr>
            </a:pPr>
            <a:r>
              <a:t>Admin Applications Operations</a:t>
            </a:r>
          </a:p>
          <a:p>
            <a:pPr>
              <a:defRPr sz="1300">
                <a:solidFill>
                  <a:srgbClr val="5E6A84"/>
                </a:solidFill>
              </a:defRPr>
            </a:pPr>
            <a:r>
              <a:t>Review, status update, delete, and export</a:t>
            </a:r>
          </a:p>
        </p:txBody>
      </p:sp>
      <p:pic>
        <p:nvPicPr>
          <p:cNvPr id="3" name="Picture 2" descr="nav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37160"/>
            <a:ext cx="1005840" cy="99593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280160"/>
            <a:ext cx="5486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82D3E"/>
                </a:solidFill>
              </a:defRPr>
            </a:pPr>
            <a:r>
              <a:t>Search and filter over application records.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Update status workflow from admin table.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Delete action for data cleanup.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One-click CSV and JSON exports for reports.</a:t>
            </a:r>
          </a:p>
        </p:txBody>
      </p:sp>
      <p:pic>
        <p:nvPicPr>
          <p:cNvPr id="5" name="Picture 4" descr="admin-applications-p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188720"/>
            <a:ext cx="530352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2283A"/>
                </a:solidFill>
              </a:defRPr>
            </a:pPr>
            <a:r>
              <a:t>Admin Dashboard Sections</a:t>
            </a:r>
          </a:p>
          <a:p>
            <a:pPr>
              <a:defRPr sz="1300">
                <a:solidFill>
                  <a:srgbClr val="5E6A84"/>
                </a:solidFill>
              </a:defRPr>
            </a:pPr>
            <a:r>
              <a:t>Role-based module navigation</a:t>
            </a:r>
          </a:p>
        </p:txBody>
      </p:sp>
      <p:pic>
        <p:nvPicPr>
          <p:cNvPr id="3" name="Picture 2" descr="nav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37160"/>
            <a:ext cx="1005840" cy="99593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280160"/>
            <a:ext cx="5486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82D3E"/>
                </a:solidFill>
              </a:defRPr>
            </a:pPr>
            <a:r>
              <a:t>Key sections include: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- Home 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- Job Applications 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- Resumes 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- Candidates 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- Analytics 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- Jobs 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- Companies 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- Managers 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- Notifications 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- Reports 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- Settings </a:t>
            </a:r>
          </a:p>
        </p:txBody>
      </p:sp>
      <p:pic>
        <p:nvPicPr>
          <p:cNvPr id="5" name="Picture 4" descr="admin-dashboard-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188720"/>
            <a:ext cx="530352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2283A"/>
                </a:solidFill>
              </a:defRPr>
            </a:pPr>
            <a:r>
              <a:t>Backend Route Inventory</a:t>
            </a:r>
          </a:p>
          <a:p>
            <a:pPr>
              <a:defRPr sz="1300">
                <a:solidFill>
                  <a:srgbClr val="5E6A84"/>
                </a:solidFill>
              </a:defRPr>
            </a:pPr>
            <a:r>
              <a:t>Express routes currently available</a:t>
            </a:r>
          </a:p>
        </p:txBody>
      </p:sp>
      <p:pic>
        <p:nvPicPr>
          <p:cNvPr id="3" name="Picture 2" descr="nav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37160"/>
            <a:ext cx="1005840" cy="99593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280160"/>
            <a:ext cx="5486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82D3E"/>
                </a:solidFill>
              </a:defRPr>
            </a:pPr>
            <a:r>
              <a:t>- GET /jobs/:jobId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- GET /my-applications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- GET /admin/applications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- GET /healthz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- GET /readyz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- GET /api/jobs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- GET /api/jobs/:jobId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- POST /api/applications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- GET /api/applications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- GET /api/applications/check-duplicate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- GET /api/applications/export.csv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- GET /api/applications/export.json</a:t>
            </a:r>
          </a:p>
        </p:txBody>
      </p:sp>
      <p:pic>
        <p:nvPicPr>
          <p:cNvPr id="5" name="Picture 4" descr="job-details-p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280160"/>
            <a:ext cx="521208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2283A"/>
                </a:solidFill>
              </a:defRPr>
            </a:pPr>
            <a:r>
              <a:t>API Flow and Data</a:t>
            </a:r>
          </a:p>
          <a:p>
            <a:pPr>
              <a:defRPr sz="1300">
                <a:solidFill>
                  <a:srgbClr val="5E6A84"/>
                </a:solidFill>
              </a:defRPr>
            </a:pPr>
            <a:r>
              <a:t>How user/admin UI talks to backend</a:t>
            </a:r>
          </a:p>
        </p:txBody>
      </p:sp>
      <p:pic>
        <p:nvPicPr>
          <p:cNvPr id="3" name="Picture 2" descr="nav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37160"/>
            <a:ext cx="1005840" cy="99593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280160"/>
            <a:ext cx="5486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82D3E"/>
                </a:solidFill>
              </a:defRPr>
            </a:pPr>
            <a:r>
              <a:t>GET /api/jobs and GET /api/jobs/:jobId drive listing/details.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POST /api/applications handles multipart form submit.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GET /api/applications supports user/admin listing views.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Export endpoints provide reporting downloads.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Source files: data/jobs.json and data/applications.json.</a:t>
            </a:r>
          </a:p>
        </p:txBody>
      </p:sp>
      <p:pic>
        <p:nvPicPr>
          <p:cNvPr id="5" name="Picture 4" descr="admin-applications-p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188720"/>
            <a:ext cx="530352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2283A"/>
                </a:solidFill>
              </a:defRPr>
            </a:pPr>
            <a:r>
              <a:t>Branding and Asset Strategy</a:t>
            </a:r>
          </a:p>
          <a:p>
            <a:pPr>
              <a:defRPr sz="1300">
                <a:solidFill>
                  <a:srgbClr val="5E6A84"/>
                </a:solidFill>
              </a:defRPr>
            </a:pPr>
            <a:r>
              <a:t>Logo, tool icons, and resources images</a:t>
            </a:r>
          </a:p>
        </p:txBody>
      </p:sp>
      <p:pic>
        <p:nvPicPr>
          <p:cNvPr id="3" name="Picture 2" descr="nav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37160"/>
            <a:ext cx="1005840" cy="99593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280160"/>
            <a:ext cx="5486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82D3E"/>
                </a:solidFill>
              </a:defRPr>
            </a:pPr>
            <a:r>
              <a:t>Brand logo centralized in assets/images/branding.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Tool icons centralized in assets/images/tools.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Resource images centralized in assets/images/resources.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Folder strategy supports easy replacement for designers/developers.</a:t>
            </a:r>
          </a:p>
        </p:txBody>
      </p:sp>
      <p:pic>
        <p:nvPicPr>
          <p:cNvPr id="5" name="Picture 4" descr="nav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828800"/>
            <a:ext cx="292608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2283A"/>
                </a:solidFill>
              </a:defRPr>
            </a:pPr>
            <a:r>
              <a:t>Security, Stability, and Ops</a:t>
            </a:r>
          </a:p>
          <a:p>
            <a:pPr>
              <a:defRPr sz="1300">
                <a:solidFill>
                  <a:srgbClr val="5E6A84"/>
                </a:solidFill>
              </a:defRPr>
            </a:pPr>
            <a:r>
              <a:t>Production safety controls</a:t>
            </a:r>
          </a:p>
        </p:txBody>
      </p:sp>
      <p:pic>
        <p:nvPicPr>
          <p:cNvPr id="3" name="Picture 2" descr="nav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37160"/>
            <a:ext cx="1005840" cy="99593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280160"/>
            <a:ext cx="5486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82D3E"/>
                </a:solidFill>
              </a:defRPr>
            </a:pPr>
            <a:r>
              <a:t>Helmet security headers enabled.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Rate limits on API and apply endpoints.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Multer enforces upload limits and file types.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Health and readiness endpoints included.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Static serving with caching enabled.</a:t>
            </a:r>
          </a:p>
        </p:txBody>
      </p:sp>
      <p:pic>
        <p:nvPicPr>
          <p:cNvPr id="5" name="Picture 4" descr="index-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188720"/>
            <a:ext cx="530352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2283A"/>
                </a:solidFill>
              </a:defRPr>
            </a:pPr>
            <a:r>
              <a:t>Stakeholder FAQ Slide</a:t>
            </a:r>
          </a:p>
          <a:p>
            <a:pPr>
              <a:defRPr sz="1300">
                <a:solidFill>
                  <a:srgbClr val="5E6A84"/>
                </a:solidFill>
              </a:defRPr>
            </a:pPr>
            <a:r>
              <a:t>Quick answers for demo meeting</a:t>
            </a:r>
          </a:p>
        </p:txBody>
      </p:sp>
      <p:pic>
        <p:nvPicPr>
          <p:cNvPr id="3" name="Picture 2" descr="nav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37160"/>
            <a:ext cx="1005840" cy="99593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280160"/>
            <a:ext cx="5486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82D3E"/>
                </a:solidFill>
              </a:defRPr>
            </a:pPr>
            <a:r>
              <a:t>Q: Which code language is used? A: Frontend HTML/CSS/JS + Backend Node/Express.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Q: Which button opens what? A: Mapped by handleAction and page-specific handlers.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Q: Where are admin controls? A: admin-dashboard and admin-applications pages.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Q: Where are images and logos? A: assets/images and assets/company-logos.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Q: Is data/API wired? A: Yes, jobs/applications APIs and exports are available.</a:t>
            </a:r>
          </a:p>
        </p:txBody>
      </p:sp>
      <p:pic>
        <p:nvPicPr>
          <p:cNvPr id="5" name="Picture 4" descr="index-nav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188720"/>
            <a:ext cx="530352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2283A"/>
                </a:solidFill>
              </a:defRPr>
            </a:pPr>
            <a:r>
              <a:t>Final Readiness</a:t>
            </a:r>
          </a:p>
          <a:p>
            <a:pPr>
              <a:defRPr sz="1300">
                <a:solidFill>
                  <a:srgbClr val="5E6A84"/>
                </a:solidFill>
              </a:defRPr>
            </a:pPr>
            <a:r>
              <a:t>Website status for stakeholder presentation</a:t>
            </a:r>
          </a:p>
        </p:txBody>
      </p:sp>
      <p:pic>
        <p:nvPicPr>
          <p:cNvPr id="3" name="Picture 2" descr="nav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37160"/>
            <a:ext cx="1005840" cy="99593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280160"/>
            <a:ext cx="5486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82D3E"/>
                </a:solidFill>
              </a:defRPr>
            </a:pPr>
            <a:r>
              <a:t>UI structure is clear and role-based.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Button behaviors are mapped and documented.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Core user/admin workflows are functional.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Visual evidence included from live screenshots.</a:t>
            </a:r>
          </a:p>
          <a:p>
            <a:pPr>
              <a:defRPr sz="1800">
                <a:solidFill>
                  <a:srgbClr val="282D3E"/>
                </a:solidFill>
              </a:defRPr>
            </a:pPr>
            <a:r>
              <a:t>Deck is ready to present to stakeholders.</a:t>
            </a:r>
          </a:p>
        </p:txBody>
      </p:sp>
      <p:pic>
        <p:nvPicPr>
          <p:cNvPr id="5" name="Picture 4" descr="index-home-s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188720"/>
            <a:ext cx="5303520" cy="44805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